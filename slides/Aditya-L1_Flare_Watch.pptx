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0"/>
            <a:ext cx="128016" cy="201168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E2E8F0"/>
                </a:solidFill>
                <a:latin typeface="Calibri"/>
              </a:rPr>
              <a:t>⚡ Aditya-L1 Flare 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38BDF8"/>
                </a:solidFill>
                <a:latin typeface="Calibri"/>
              </a:rPr>
              <a:t>Real-time solar-flare NOWCASTING from soft + hard X-rays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4A3B8"/>
                </a:solidFill>
                <a:latin typeface="Calibri"/>
              </a:rPr>
              <a:t>ISRO Hackathon · Problem Statement 15  ·  Minor Project — presented by Peeyush Raj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63440"/>
            <a:ext cx="2468880" cy="1417320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4791456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8BDF8"/>
                </a:solidFill>
                <a:latin typeface="Calibri"/>
              </a:rPr>
              <a:t>2,891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5376672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2E8F0"/>
                </a:solidFill>
                <a:latin typeface="Calibri"/>
              </a:rPr>
              <a:t>FLARES NOWCASTED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4663440"/>
            <a:ext cx="2468880" cy="1417320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6472" y="4791456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4D399"/>
                </a:solidFill>
                <a:latin typeface="Calibri"/>
              </a:rPr>
              <a:t>93.5%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5376672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2E8F0"/>
                </a:solidFill>
                <a:latin typeface="Calibri"/>
              </a:rPr>
              <a:t>DETECTION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663440"/>
            <a:ext cx="2468880" cy="1417320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4791456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Calibri"/>
              </a:rPr>
              <a:t>117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5376672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2E8F0"/>
                </a:solidFill>
                <a:latin typeface="Calibri"/>
              </a:rPr>
              <a:t>HARD-X PRECURSOR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4663440"/>
            <a:ext cx="2468880" cy="1417320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2" y="4791456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A78BFA"/>
                </a:solidFill>
                <a:latin typeface="Calibri"/>
              </a:rPr>
              <a:t>21.2M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2" y="5376672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2E8F0"/>
                </a:solidFill>
                <a:latin typeface="Calibri"/>
              </a:rPr>
              <a:t>ROWS MERGED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Aditya-L1 Flare Watch · Minor Project · Solar-Flare Nowcasting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DF8"/>
                </a:solidFill>
                <a:latin typeface="Calibri"/>
              </a:rPr>
              <a:t>THE PROBLEM &amp;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2E8F0"/>
                </a:solidFill>
                <a:latin typeface="Calibri"/>
              </a:rPr>
              <a:t>Solar flares break technology. We need to see them live.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94960" cy="4206240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38BDF8"/>
                </a:solidFill>
                <a:latin typeface="Calibri"/>
              </a:rPr>
              <a:t>The threat</a:t>
            </a:r>
            <a:r>
              <a:rPr sz="1400" b="0">
                <a:solidFill>
                  <a:srgbClr val="E2E8F0"/>
                </a:solidFill>
                <a:latin typeface="Calibri"/>
              </a:rPr>
              <a:t>Flares are sudden X-ray explosions on the Sun that can:</a:t>
            </a:r>
            <a:r>
              <a:rPr sz="1400" b="0">
                <a:solidFill>
                  <a:srgbClr val="E2E8F0"/>
                </a:solidFill>
                <a:latin typeface="Calibri"/>
              </a:rPr>
              <a:t>•  fry satellite electronics</a:t>
            </a:r>
            <a:r>
              <a:rPr sz="1400" b="0">
                <a:solidFill>
                  <a:srgbClr val="E2E8F0"/>
                </a:solidFill>
                <a:latin typeface="Calibri"/>
              </a:rPr>
              <a:t>•  black out GPS &amp; radio for hours</a:t>
            </a:r>
            <a:r>
              <a:rPr sz="1400" b="0">
                <a:solidFill>
                  <a:srgbClr val="E2E8F0"/>
                </a:solidFill>
                <a:latin typeface="Calibri"/>
              </a:rPr>
              <a:t>•  collapse power grids (1989 Quebec)</a:t>
            </a:r>
            <a:r>
              <a:rPr sz="800" b="0">
                <a:solidFill>
                  <a:srgbClr val="E2E8F0"/>
                </a:solidFill>
                <a:latin typeface="Calibri"/>
              </a:rPr>
              <a:t/>
            </a:r>
            <a:r>
              <a:rPr sz="1700" b="1">
                <a:solidFill>
                  <a:srgbClr val="38BDF8"/>
                </a:solidFill>
                <a:latin typeface="Calibri"/>
              </a:rPr>
              <a:t>The opportunity</a:t>
            </a:r>
            <a:r>
              <a:rPr sz="1400" b="0">
                <a:solidFill>
                  <a:srgbClr val="E2E8F0"/>
                </a:solidFill>
                <a:latin typeface="Calibri"/>
              </a:rPr>
              <a:t>Aditya-L1, ISRO's solar observatory at the L1 point, watches the Sun 24×7 with two X-ray eyes — SoLEXS (soft) and HEL1OS (hard).</a:t>
            </a:r>
            <a:r>
              <a:rPr sz="800" b="0">
                <a:solidFill>
                  <a:srgbClr val="E2E8F0"/>
                </a:solidFill>
                <a:latin typeface="Calibri"/>
              </a:rPr>
              <a:t/>
            </a:r>
            <a:r>
              <a:rPr sz="1400" b="1">
                <a:solidFill>
                  <a:srgbClr val="F59E0B"/>
                </a:solidFill>
                <a:latin typeface="Calibri"/>
              </a:rPr>
              <a:t>PS-15 asks us to detect flares from BOTH instruments combined —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94960" cy="4206240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574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A78BFA"/>
                </a:solidFill>
                <a:latin typeface="Calibri"/>
              </a:rPr>
              <a:t>Nowcast vs Forecast</a:t>
            </a:r>
            <a:r>
              <a:rPr sz="1500" b="1">
                <a:solidFill>
                  <a:srgbClr val="34D399"/>
                </a:solidFill>
                <a:latin typeface="Calibri"/>
              </a:rPr>
              <a:t>NOWCAST — “a flare is happening RIGHT NOW”</a:t>
            </a:r>
            <a:r>
              <a:rPr sz="1300" b="0">
                <a:solidFill>
                  <a:srgbClr val="94A3B8"/>
                </a:solidFill>
                <a:latin typeface="Calibri"/>
              </a:rPr>
              <a:t>Detect + classify + alert within seconds of onset. THIS PROJECT (minor).</a:t>
            </a:r>
            <a:r>
              <a:rPr sz="800" b="0">
                <a:solidFill>
                  <a:srgbClr val="E2E8F0"/>
                </a:solidFill>
                <a:latin typeface="Calibri"/>
              </a:rPr>
              <a:t/>
            </a:r>
            <a:r>
              <a:rPr sz="1500" b="1">
                <a:solidFill>
                  <a:srgbClr val="A78BFA"/>
                </a:solidFill>
                <a:latin typeface="Calibri"/>
              </a:rPr>
              <a:t>FORECAST — “one is coming in the next 30 min”</a:t>
            </a:r>
            <a:r>
              <a:rPr sz="1300" b="0">
                <a:solidFill>
                  <a:srgbClr val="94A3B8"/>
                </a:solidFill>
                <a:latin typeface="Calibri"/>
              </a:rPr>
              <a:t>Predict before the peak. Prototype exists — deliberately reserved for the MAJOR project (next slide explains the split).</a:t>
            </a:r>
            <a:r>
              <a:rPr sz="800" b="0">
                <a:solidFill>
                  <a:srgbClr val="E2E8F0"/>
                </a:solidFill>
                <a:latin typeface="Calibri"/>
              </a:rPr>
              <a:t/>
            </a:r>
            <a:r>
              <a:rPr sz="1400" b="0">
                <a:solidFill>
                  <a:srgbClr val="E2E8F0"/>
                </a:solidFill>
                <a:latin typeface="Calibri"/>
              </a:rPr>
              <a:t>PS-15 covers both; we deliver one half completely instead of two halves halfway.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Aditya-L1 Flare Watch · Minor Project · Solar-Flare Nowcasting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DF8"/>
                </a:solidFill>
                <a:latin typeface="Calibr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2E8F0"/>
                </a:solidFill>
                <a:latin typeface="Calibri"/>
              </a:rPr>
              <a:t>Minor = nowcast. Major = forecast. One clean 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4846320" cy="457200"/>
          </a:xfrm>
          <a:prstGeom prst="roundRect">
            <a:avLst/>
          </a:prstGeom>
          <a:solidFill>
            <a:srgbClr val="14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0" y="1874519"/>
            <a:ext cx="2926080" cy="457200"/>
          </a:xfrm>
          <a:prstGeom prst="roundRect">
            <a:avLst/>
          </a:prstGeom>
          <a:solidFill>
            <a:srgbClr val="0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03920" y="1874519"/>
            <a:ext cx="3108960" cy="457200"/>
          </a:xfrm>
          <a:prstGeom prst="roundRect">
            <a:avLst/>
          </a:prstGeom>
          <a:solidFill>
            <a:srgbClr val="1A1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56815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4A3B8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956815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8BDF8"/>
                </a:solidFill>
                <a:latin typeface="Calibri"/>
              </a:rPr>
              <a:t>MINOR — THIS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956815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A78BFA"/>
                </a:solidFill>
                <a:latin typeface="Calibri"/>
              </a:rPr>
              <a:t>MAJOR — FUTURE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41447"/>
            <a:ext cx="11064240" cy="475488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32887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2E8F0"/>
                </a:solidFill>
                <a:latin typeface="Calibri"/>
              </a:rPr>
              <a:t>Detect flares as they happen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532887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38BDF8"/>
                </a:solidFill>
                <a:latin typeface="Calibri"/>
              </a:rPr>
              <a:t>✅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532887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26663"/>
            <a:ext cx="11064240" cy="475488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18103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2E8F0"/>
                </a:solidFill>
                <a:latin typeface="Calibri"/>
              </a:rPr>
              <a:t>Soft+hard cross-matched catalog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118103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38BDF8"/>
                </a:solidFill>
                <a:latin typeface="Calibri"/>
              </a:rPr>
              <a:t>✅ 2,891 flares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118103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4A3B8"/>
                </a:solidFill>
                <a:latin typeface="Calibri"/>
              </a:rPr>
              <a:t>extends automatically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11879"/>
            <a:ext cx="11064240" cy="475488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03319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2E8F0"/>
                </a:solidFill>
                <a:latin typeface="Calibri"/>
              </a:rPr>
              <a:t>Counts → GOES class 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703319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38BDF8"/>
                </a:solidFill>
                <a:latin typeface="Calibri"/>
              </a:rPr>
              <a:t>✅ validated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703319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97095"/>
            <a:ext cx="11064240" cy="475488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88535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2E8F0"/>
                </a:solidFill>
                <a:latin typeface="Calibri"/>
              </a:rPr>
              <a:t>Merged single-file datasets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288535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38BDF8"/>
                </a:solidFill>
                <a:latin typeface="Calibri"/>
              </a:rPr>
              <a:t>✅ 21.2M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288535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782311"/>
            <a:ext cx="11064240" cy="475488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873751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2E8F0"/>
                </a:solidFill>
                <a:latin typeface="Calibri"/>
              </a:rPr>
              <a:t>Dashboard + live-alert replay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4873751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38BDF8"/>
                </a:solidFill>
                <a:latin typeface="Calibri"/>
              </a:rP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873751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367527"/>
            <a:ext cx="11064240" cy="475488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458967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2E8F0"/>
                </a:solidFill>
                <a:latin typeface="Calibri"/>
              </a:rPr>
              <a:t>Predict flares before peak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5458967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4A3B8"/>
                </a:solidFill>
                <a:latin typeface="Calibri"/>
              </a:rPr>
              <a:t>🔮 prototype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458967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A78BFA"/>
                </a:solidFill>
                <a:latin typeface="Calibri"/>
              </a:rPr>
              <a:t>✅ main deliverable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4A3B8"/>
                </a:solidFill>
                <a:latin typeface="Calibri"/>
              </a:rPr>
              <a:t>The forecast prototype is shown in the dashboard only as a clearly-marked FUTURE WORK panel.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Aditya-L1 Flare Watch · Minor Project · Solar-Flare Nowcasting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DF8"/>
                </a:solidFill>
                <a:latin typeface="Calibri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2E8F0"/>
                </a:solidFill>
                <a:latin typeface="Calibri"/>
              </a:rPr>
              <a:t>From PRADAN zips to one clean table per second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669280" cy="2194560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8BDF8"/>
                </a:solidFill>
                <a:latin typeface="Calibri"/>
              </a:rPr>
              <a:t>What we downloaded (ISRO PRADAN)</a:t>
            </a:r>
            <a:r>
              <a:rPr sz="1350" b="0">
                <a:solidFill>
                  <a:srgbClr val="E2E8F0"/>
                </a:solidFill>
                <a:latin typeface="Calibri"/>
              </a:rPr>
              <a:t>• SoLEXS: 203 daily zips — 2024-02-12, 2024-03-14→05-31, 2026-05-06→09-17</a:t>
            </a:r>
            <a:r>
              <a:rPr sz="1350" b="0">
                <a:solidFill>
                  <a:srgbClr val="E2E8F0"/>
                </a:solidFill>
                <a:latin typeface="Calibri"/>
              </a:rPr>
              <a:t>• HEL1OS: 22 zips — 2026-09-07→09-18, 12-h segments, 4 detectors</a:t>
            </a:r>
            <a:r>
              <a:rPr sz="1350" b="0">
                <a:solidFill>
                  <a:srgbClr val="E2E8F0"/>
                </a:solidFill>
                <a:latin typeface="Calibri"/>
              </a:rPr>
              <a:t>• Level-1 FITS: 1-second X-ray count rates + good-time intervals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160520"/>
            <a:ext cx="5669280" cy="1920240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59E0B"/>
                </a:solidFill>
                <a:latin typeface="Calibri"/>
              </a:rPr>
              <a:t>Ground truth for validation</a:t>
            </a:r>
            <a:r>
              <a:rPr sz="1350" b="0">
                <a:solidFill>
                  <a:srgbClr val="E2E8F0"/>
                </a:solidFill>
                <a:latin typeface="Calibri"/>
              </a:rPr>
              <a:t>NOAA GOES-16 XRS 1-min flux — the world's flare-class reference. 432 reference flares across 73 days; also used to calibrate our counts into physical flux.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83080"/>
            <a:ext cx="5212080" cy="4297680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4D399"/>
                </a:solidFill>
                <a:latin typeface="Calibri"/>
              </a:rPr>
              <a:t>📦 Merged dataset — the deliverable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606040"/>
            <a:ext cx="4663440" cy="713232"/>
          </a:xfrm>
          <a:prstGeom prst="roundRect">
            <a:avLst/>
          </a:prstGeom>
          <a:solidFill>
            <a:srgbClr val="0B1220"/>
          </a:solidFill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6791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2E8F0"/>
                </a:solidFill>
                <a:latin typeface="Calibri"/>
              </a:rPr>
              <a:t>solexs_merged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9900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4D399"/>
                </a:solidFill>
                <a:latin typeface="Calibri"/>
              </a:rPr>
              <a:t>17.54M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Calibri"/>
              </a:rPr>
              <a:t>179 MB pq / 1.39 GB 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429000"/>
            <a:ext cx="4663440" cy="713232"/>
          </a:xfrm>
          <a:prstGeom prst="roundRect">
            <a:avLst/>
          </a:prstGeom>
          <a:solidFill>
            <a:srgbClr val="0B1220"/>
          </a:solidFill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5021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2E8F0"/>
                </a:solidFill>
                <a:latin typeface="Calibri"/>
              </a:rPr>
              <a:t>hel1os_merged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8130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4D399"/>
                </a:solidFill>
                <a:latin typeface="Calibri"/>
              </a:rPr>
              <a:t>3.67M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611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Calibri"/>
              </a:rPr>
              <a:t>32 MB pq / 263 MB 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4251960"/>
            <a:ext cx="4663440" cy="713232"/>
          </a:xfrm>
          <a:prstGeom prst="roundRect">
            <a:avLst/>
          </a:prstGeom>
          <a:solidFill>
            <a:srgbClr val="0B1220"/>
          </a:solidFill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3251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2E8F0"/>
                </a:solidFill>
                <a:latin typeface="Calibri"/>
              </a:rPr>
              <a:t>merged_all_data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6360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4D399"/>
                </a:solidFill>
                <a:latin typeface="Calibri"/>
              </a:rPr>
              <a:t>21.2M rows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434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Calibri"/>
              </a:rPr>
              <a:t>211 MB pq / 1.65 GB csv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5074920"/>
            <a:ext cx="4663440" cy="713232"/>
          </a:xfrm>
          <a:prstGeom prst="roundRect">
            <a:avLst/>
          </a:prstGeom>
          <a:solidFill>
            <a:srgbClr val="0B1220"/>
          </a:solidFill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51480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2E8F0"/>
                </a:solidFill>
                <a:latin typeface="Calibri"/>
              </a:rPr>
              <a:t>master_catalog.csv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4589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4D399"/>
                </a:solidFill>
                <a:latin typeface="Calibri"/>
              </a:rPr>
              <a:t>2,891 flares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5257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Calibri"/>
              </a:rPr>
              <a:t>classes, peaks, lead times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669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Calibri"/>
              </a:rPr>
              <a:t>One row = one second: UTC time · rate · error · quality flag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Aditya-L1 Flare Watch · Minor Project · Solar-Flare Nowcasting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DF8"/>
                </a:solidFill>
                <a:latin typeface="Calibri"/>
              </a:rPr>
              <a:t>METHOD — THE NOWCAST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2E8F0"/>
                </a:solidFill>
                <a:latin typeface="Calibri"/>
              </a:rPr>
              <a:t>Hearing a shout above room noise — 5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1064240" cy="786384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822960" cy="786384"/>
          </a:xfrm>
          <a:prstGeom prst="roundRect">
            <a:avLst/>
          </a:prstGeom>
          <a:solidFill>
            <a:srgbClr val="0B1220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75104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38BDF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8BDF8"/>
                </a:solidFill>
                <a:latin typeface="Calibri"/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956816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E2E8F0"/>
                </a:solidFill>
                <a:latin typeface="Calibri"/>
              </a:rPr>
              <a:t>FITS → 1-second tables; keep only good-time intervals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24912"/>
            <a:ext cx="11064240" cy="786384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724912"/>
            <a:ext cx="822960" cy="786384"/>
          </a:xfrm>
          <a:prstGeom prst="roundRect">
            <a:avLst/>
          </a:prstGeom>
          <a:solidFill>
            <a:srgbClr val="0B1220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71216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59E0B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81635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Calibri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52928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E2E8F0"/>
                </a:solidFill>
                <a:latin typeface="Calibri"/>
              </a:rPr>
              <a:t>rolling 45-min MINIMUM — flares only push counts up, so the floor is immune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21024"/>
            <a:ext cx="11064240" cy="786384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621024"/>
            <a:ext cx="822960" cy="786384"/>
          </a:xfrm>
          <a:prstGeom prst="roundRect">
            <a:avLst/>
          </a:prstGeom>
          <a:solidFill>
            <a:srgbClr val="0B1220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6732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38BDF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712464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8BDF8"/>
                </a:solidFill>
                <a:latin typeface="Calibri"/>
              </a:rPr>
              <a:t>SMOOTH + 5σ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74904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E2E8F0"/>
                </a:solidFill>
                <a:latin typeface="Calibri"/>
              </a:rPr>
              <a:t>20-s average; flare when signal beats background by 5 standard deviations for 30 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17136"/>
            <a:ext cx="11064240" cy="786384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4517136"/>
            <a:ext cx="822960" cy="786384"/>
          </a:xfrm>
          <a:prstGeom prst="roundRect">
            <a:avLst/>
          </a:prstGeom>
          <a:solidFill>
            <a:srgbClr val="0B1220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38BDF8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60857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8BDF8"/>
                </a:solidFill>
                <a:latin typeface="Calibri"/>
              </a:rPr>
              <a:t>END &amp; MERGE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645152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E2E8F0"/>
                </a:solidFill>
                <a:latin typeface="Calibri"/>
              </a:rPr>
              <a:t>decay below 1.5σ ends it; bursts within 300 s merge into one flare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13248"/>
            <a:ext cx="11064240" cy="786384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413248"/>
            <a:ext cx="822960" cy="786384"/>
          </a:xfrm>
          <a:prstGeom prst="roundRect">
            <a:avLst/>
          </a:prstGeom>
          <a:solidFill>
            <a:srgbClr val="0B1220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55955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34D399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50468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4D399"/>
                </a:solidFill>
                <a:latin typeface="Calibri"/>
              </a:rPr>
              <a:t>CROSS-MATCH &amp; CLASSIFY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541264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E2E8F0"/>
                </a:solidFill>
                <a:latin typeface="Calibri"/>
              </a:rPr>
              <a:t>link soft+hard views; counts → GOES flux → A/B/C/M/X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Calibri"/>
              </a:rPr>
              <a:t>HEL1OS photon-starved 1-s samples are first re-binned to 60 s. Detector = backend/pipeline/detect/detector.py · 6/6 unit tests.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Aditya-L1 Flare Watch · Minor Project · Solar-Flare Nowcasting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DF8"/>
                </a:solidFill>
                <a:latin typeface="Calibri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2E8F0"/>
                </a:solidFill>
                <a:latin typeface="Calibri"/>
              </a:rPr>
              <a:t>93.5% of every real flare caught — validated against NOAA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474720" cy="2103120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956816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4D399"/>
                </a:solidFill>
                <a:latin typeface="Calibri"/>
              </a:rPr>
              <a:t>93.5%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42032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2E8F0"/>
                </a:solidFill>
                <a:latin typeface="Calibri"/>
              </a:rPr>
              <a:t>TRUE POSITIVE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871215"/>
            <a:ext cx="3145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404/432 GOES reference flares detected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474720" cy="2103120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956816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8BDF8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542032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2E8F0"/>
                </a:solidFill>
                <a:latin typeface="Calibri"/>
              </a:rPr>
              <a:t>X-CLASS CAUGHT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871215"/>
            <a:ext cx="3145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all 17 X-flares · M: 95.3% · C: 92.9%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474720" cy="2103120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956816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Calibri"/>
              </a:rPr>
              <a:t>4.7/day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542032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2E8F0"/>
                </a:solidFill>
                <a:latin typeface="Calibri"/>
              </a:rPr>
              <a:t>FALSE ALARMS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871215"/>
            <a:ext cx="3145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…and they aren't even false — see below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06240"/>
            <a:ext cx="11064240" cy="1920240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59E0B"/>
                </a:solidFill>
                <a:latin typeface="Calibri"/>
              </a:rPr>
              <a:t>The honest twist: our “false alarms” are real flares GOES never listed</a:t>
            </a:r>
            <a:r>
              <a:rPr sz="1400" b="0">
                <a:solidFill>
                  <a:srgbClr val="E2E8F0"/>
                </a:solidFill>
                <a:latin typeface="Calibri"/>
              </a:rPr>
              <a:t>All 345 unmatched detections are genuine C6–C8 solar events below GOES's detection floor (median significance 34σ). SoLEXS is MORE sensitive than the reference standard — the dashboard, docs and EVALUATION.md state this openly.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Aditya-L1 Flare Watch · Minor Project · Solar-Flare Nowcasting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DF8"/>
                </a:solidFill>
                <a:latin typeface="Calibri"/>
              </a:rPr>
              <a:t>THE PHYSICS HIGHLIGHT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2E8F0"/>
                </a:solidFill>
                <a:latin typeface="Calibri"/>
              </a:rPr>
              <a:t>Hard X-rays arrive first — the Neupert effect, measured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852160" cy="4114800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38BDF8"/>
                </a:solidFill>
                <a:latin typeface="Calibri"/>
              </a:rPr>
              <a:t>Why two instruments?</a:t>
            </a:r>
            <a:r>
              <a:rPr sz="1400" b="0">
                <a:solidFill>
                  <a:srgbClr val="E2E8F0"/>
                </a:solidFill>
                <a:latin typeface="Calibri"/>
              </a:rPr>
              <a:t>When a flare ignites:</a:t>
            </a:r>
            <a:r>
              <a:rPr sz="1400" b="0">
                <a:solidFill>
                  <a:srgbClr val="E2E8F0"/>
                </a:solidFill>
                <a:latin typeface="Calibri"/>
              </a:rPr>
              <a:t>1.  Electrons are slammed into the solar surface → HARD X-rays (HEL1OS) — first</a:t>
            </a:r>
            <a:r>
              <a:rPr sz="1400" b="0">
                <a:solidFill>
                  <a:srgbClr val="E2E8F0"/>
                </a:solidFill>
                <a:latin typeface="Calibri"/>
              </a:rPr>
              <a:t>2.  The blast-heated plasma then glows → SOFT X-rays (SoLEXS) — after</a:t>
            </a:r>
            <a:r>
              <a:rPr sz="800" b="0">
                <a:solidFill>
                  <a:srgbClr val="E2E8F0"/>
                </a:solidFill>
                <a:latin typeface="Calibri"/>
              </a:rPr>
              <a:t/>
            </a:r>
            <a:r>
              <a:rPr sz="1400" b="1">
                <a:solidFill>
                  <a:srgbClr val="F59E0B"/>
                </a:solidFill>
                <a:latin typeface="Calibri"/>
              </a:rPr>
              <a:t>So the hard-X peak is a built-in early warning of the soft-X peak — the Neupert effect, and the physical basis of forecasting.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828800"/>
            <a:ext cx="4937760" cy="4114800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2103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8BDF8"/>
                </a:solidFill>
                <a:latin typeface="Calibri"/>
              </a:rPr>
              <a:t>Measured in our data: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65176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34D399"/>
                </a:solidFill>
                <a:latin typeface="Calibri"/>
              </a:rPr>
              <a:t>117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74903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2E8F0"/>
                </a:solidFill>
                <a:latin typeface="Calibri"/>
              </a:rPr>
              <a:t>median hard-before-soft lead (14 cross-matched events)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4343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4A3B8"/>
                </a:solidFill>
                <a:latin typeface="Calibri"/>
              </a:rPr>
              <a:t>458 s  longest observed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846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Calibri"/>
              </a:rPr>
              <a:t>2026-09-07→09-15 overlap window, 59 flares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Aditya-L1 Flare Watch · Minor Project · Solar-Flare Nowcasting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DF8"/>
                </a:solidFill>
                <a:latin typeface="Calibri"/>
              </a:rPr>
              <a:t>SOFTWARE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2E8F0"/>
                </a:solidFill>
                <a:latin typeface="Calibri"/>
              </a:rPr>
              <a:t>A reproducible pipeline, not a notebook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669280" cy="4114800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5212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38BDF8"/>
                </a:solidFill>
                <a:latin typeface="Calibri"/>
              </a:rPr>
              <a:t>Stack</a:t>
            </a:r>
            <a:r>
              <a:rPr sz="1350" b="0">
                <a:solidFill>
                  <a:srgbClr val="E2E8F0"/>
                </a:solidFill>
                <a:latin typeface="Calibri"/>
              </a:rPr>
              <a:t>• Python 3.11 · astropy · pandas · pyarrow</a:t>
            </a:r>
            <a:r>
              <a:rPr sz="1350" b="0">
                <a:solidFill>
                  <a:srgbClr val="E2E8F0"/>
                </a:solidFill>
                <a:latin typeface="Calibri"/>
              </a:rPr>
              <a:t>• LightGBM (forecast prototype — future)</a:t>
            </a:r>
            <a:r>
              <a:rPr sz="1350" b="0">
                <a:solidFill>
                  <a:srgbClr val="E2E8F0"/>
                </a:solidFill>
                <a:latin typeface="Calibri"/>
              </a:rPr>
              <a:t>• FastAPI + WebSocket live replay</a:t>
            </a:r>
            <a:r>
              <a:rPr sz="1350" b="0">
                <a:solidFill>
                  <a:srgbClr val="E2E8F0"/>
                </a:solidFill>
                <a:latin typeface="Calibri"/>
              </a:rPr>
              <a:t>• React 19 + Vite + Recharts dashboard</a:t>
            </a:r>
            <a:r>
              <a:rPr sz="800" b="0">
                <a:solidFill>
                  <a:srgbClr val="E2E8F0"/>
                </a:solidFill>
                <a:latin typeface="Calibri"/>
              </a:rPr>
              <a:t/>
            </a:r>
            <a:r>
              <a:rPr sz="1600" b="1">
                <a:solidFill>
                  <a:srgbClr val="38BDF8"/>
                </a:solidFill>
                <a:latin typeface="Calibri"/>
              </a:rPr>
              <a:t>Engineering hygiene</a:t>
            </a:r>
            <a:r>
              <a:rPr sz="1350" b="0">
                <a:solidFill>
                  <a:srgbClr val="E2E8F0"/>
                </a:solidFill>
                <a:latin typeface="Calibri"/>
              </a:rPr>
              <a:t>• 6/6 unit tests on synthetic light curves</a:t>
            </a:r>
            <a:r>
              <a:rPr sz="1350" b="0">
                <a:solidFill>
                  <a:srgbClr val="E2E8F0"/>
                </a:solidFill>
                <a:latin typeface="Calibri"/>
              </a:rPr>
              <a:t>• deterministic CLI pipeline: ingest → detect → eval → export</a:t>
            </a:r>
            <a:r>
              <a:rPr sz="1350" b="0">
                <a:solidFill>
                  <a:srgbClr val="E2E8F0"/>
                </a:solidFill>
                <a:latin typeface="Calibri"/>
              </a:rPr>
              <a:t>• 3.7 GB data kept out of git; rebuildable via export_merged.py</a:t>
            </a:r>
            <a:r>
              <a:rPr sz="1350" b="0">
                <a:solidFill>
                  <a:srgbClr val="E2E8F0"/>
                </a:solidFill>
                <a:latin typeface="Calibri"/>
              </a:rPr>
              <a:t>• documented: README · DATASET · EXPLAINER · EVALUATION · RUN_GUIDE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5212080" cy="4114800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011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8BDF8"/>
                </a:solidFill>
                <a:latin typeface="Calibri"/>
              </a:rPr>
              <a:t>What runs where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560320"/>
            <a:ext cx="4663440" cy="585216"/>
          </a:xfrm>
          <a:prstGeom prst="roundRect">
            <a:avLst/>
          </a:prstGeom>
          <a:solidFill>
            <a:srgbClr val="0B1220"/>
          </a:solidFill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61518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2E8F0"/>
                </a:solidFill>
                <a:latin typeface="Calibri"/>
              </a:rPr>
              <a:t>backend/pipeline/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871216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ingest · detect · catalog · eval · export_merged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236976"/>
            <a:ext cx="4663440" cy="585216"/>
          </a:xfrm>
          <a:prstGeom prst="roundRect">
            <a:avLst/>
          </a:prstGeom>
          <a:solidFill>
            <a:srgbClr val="0B1220"/>
          </a:solidFill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2918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2E8F0"/>
                </a:solidFill>
                <a:latin typeface="Calibri"/>
              </a:rPr>
              <a:t>backend/app/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54787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FastAPI: 6 REST endpoints + WS replay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913632"/>
            <a:ext cx="4663440" cy="585216"/>
          </a:xfrm>
          <a:prstGeom prst="roundRect">
            <a:avLst/>
          </a:prstGeom>
          <a:solidFill>
            <a:srgbClr val="0B1220"/>
          </a:solidFill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96849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2E8F0"/>
                </a:solidFill>
                <a:latin typeface="Calibri"/>
              </a:rPr>
              <a:t>frontend/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24528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dashboard + guide/glossary page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590288"/>
            <a:ext cx="4663440" cy="585216"/>
          </a:xfrm>
          <a:prstGeom prst="roundRect">
            <a:avLst/>
          </a:prstGeom>
          <a:solidFill>
            <a:srgbClr val="0B1220"/>
          </a:solidFill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464515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2E8F0"/>
                </a:solidFill>
                <a:latin typeface="Calibri"/>
              </a:rPr>
              <a:t>backend/data/merged/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901184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the merged dataset deliverable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5266944"/>
            <a:ext cx="4663440" cy="585216"/>
          </a:xfrm>
          <a:prstGeom prst="roundRect">
            <a:avLst/>
          </a:prstGeom>
          <a:solidFill>
            <a:srgbClr val="0B1220"/>
          </a:solidFill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532180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2E8F0"/>
                </a:solidFill>
                <a:latin typeface="Calibri"/>
              </a:rPr>
              <a:t>docs (5 .md)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57784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methods, metrics, demo script, glossary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Aditya-L1 Flare Watch · Minor Project · Solar-Flare Nowcasting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9E0B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2E8F0"/>
                </a:solidFill>
                <a:latin typeface="Calibri"/>
              </a:rPr>
              <a:t>The dashboard — guided, self-explanatory,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669280" cy="4114800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38BDF8"/>
                </a:solidFill>
                <a:latin typeface="Calibri"/>
              </a:rPr>
              <a:t>The 3-step flow on screen</a:t>
            </a:r>
            <a:r>
              <a:rPr sz="1400" b="0">
                <a:solidFill>
                  <a:srgbClr val="E2E8F0"/>
                </a:solidFill>
                <a:latin typeface="Calibri"/>
              </a:rPr>
              <a:t>1 · Pick a day — one-click examples (X8.7 storm day)</a:t>
            </a:r>
            <a:r>
              <a:rPr sz="1400" b="0">
                <a:solidFill>
                  <a:srgbClr val="E2E8F0"/>
                </a:solidFill>
                <a:latin typeface="Calibri"/>
              </a:rPr>
              <a:t>2 · Watch the Sun — spikes = flares, colored bands = detections</a:t>
            </a:r>
            <a:r>
              <a:rPr sz="1400" b="0">
                <a:solidFill>
                  <a:srgbClr val="E2E8F0"/>
                </a:solidFill>
                <a:latin typeface="Calibri"/>
              </a:rPr>
              <a:t>3 · Replay it live — the day streams at ×6000; every 🚨 toast is a real nowcast alert</a:t>
            </a:r>
            <a:r>
              <a:rPr sz="800" b="0">
                <a:solidFill>
                  <a:srgbClr val="E2E8F0"/>
                </a:solidFill>
                <a:latin typeface="Calibri"/>
              </a:rPr>
              <a:t/>
            </a:r>
            <a:r>
              <a:rPr sz="1400" b="0">
                <a:solidFill>
                  <a:srgbClr val="E2E8F0"/>
                </a:solidFill>
                <a:latin typeface="Calibri"/>
              </a:rPr>
              <a:t>Also on screen: merged-dataset card, filterable 2,891-flare catalog, “? how to read” panel, and a 📖 Guide &amp; Glossary page explaining every keyword.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5212080" cy="4114800"/>
          </a:xfrm>
          <a:prstGeom prst="roundRect">
            <a:avLst/>
          </a:prstGeom>
          <a:solidFill>
            <a:srgbClr val="141024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103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A78BFA"/>
                </a:solidFill>
                <a:latin typeface="Calibri"/>
              </a:rPr>
              <a:t>🔮 FUTURE WORK — MAJOR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65176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2E8F0"/>
                </a:solidFill>
                <a:latin typeface="Calibri"/>
              </a:rPr>
              <a:t>Forecast prototype (kept out of minor scope)</a:t>
            </a:r>
            <a:r>
              <a:rPr sz="1300" b="0">
                <a:solidFill>
                  <a:srgbClr val="94A3B8"/>
                </a:solidFill>
                <a:latin typeface="Calibri"/>
              </a:rPr>
              <a:t>• LightGBM P(flare ≤ 30 min), features from trailing windows</a:t>
            </a:r>
            <a:r>
              <a:rPr sz="1300" b="0">
                <a:solidFill>
                  <a:srgbClr val="94A3B8"/>
                </a:solidFill>
                <a:latin typeface="Calibri"/>
              </a:rPr>
              <a:t>• AUC 0.82 · 6/6 test flares alerted</a:t>
            </a:r>
            <a:r>
              <a:rPr sz="1300" b="0">
                <a:solidFill>
                  <a:srgbClr val="94A3B8"/>
                </a:solidFill>
                <a:latin typeface="Calibri"/>
              </a:rPr>
              <a:t>• median lead 192 s · p90 798 s at FAR = 2/day</a:t>
            </a:r>
            <a:r>
              <a:rPr sz="800" b="0">
                <a:solidFill>
                  <a:srgbClr val="E2E8F0"/>
                </a:solidFill>
                <a:latin typeface="Calibri"/>
              </a:rPr>
              <a:t/>
            </a:r>
            <a:r>
              <a:rPr sz="1300" b="1">
                <a:solidFill>
                  <a:srgbClr val="F59E0B"/>
                </a:solidFill>
                <a:latin typeface="Calibri"/>
              </a:rPr>
              <a:t>Same panel in the dashboard is explicitly labeled “future work” — scope discipline is part of the delivery.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Aditya-L1 Flare Watch · Minor Project · Solar-Flare Nowcasting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DF8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2E8F0"/>
                </a:solidFill>
                <a:latin typeface="Calibri"/>
              </a:rPr>
              <a:t>What stands delivered — and what comes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669280" cy="4114800"/>
          </a:xfrm>
          <a:prstGeom prst="round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5212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34D399"/>
                </a:solidFill>
                <a:latin typeface="Calibri"/>
              </a:rPr>
              <a:t>Delivered (minor project)</a:t>
            </a:r>
            <a:r>
              <a:rPr sz="1350" b="0">
                <a:solidFill>
                  <a:srgbClr val="E2E8F0"/>
                </a:solidFill>
                <a:latin typeface="Calibri"/>
              </a:rPr>
              <a:t>✅ 2,891-flare automated nowcast database (soft+hard)</a:t>
            </a:r>
            <a:r>
              <a:rPr sz="1350" b="0">
                <a:solidFill>
                  <a:srgbClr val="E2E8F0"/>
                </a:solidFill>
                <a:latin typeface="Calibri"/>
              </a:rPr>
              <a:t>✅ 93.5% detection rate, validated vs NOAA GOES-16</a:t>
            </a:r>
            <a:r>
              <a:rPr sz="1350" b="0">
                <a:solidFill>
                  <a:srgbClr val="E2E8F0"/>
                </a:solidFill>
                <a:latin typeface="Calibri"/>
              </a:rPr>
              <a:t>✅ Neupert-effect precursor measured: 117 s median</a:t>
            </a:r>
            <a:r>
              <a:rPr sz="1350" b="0">
                <a:solidFill>
                  <a:srgbClr val="E2E8F0"/>
                </a:solidFill>
                <a:latin typeface="Calibri"/>
              </a:rPr>
              <a:t>✅ Merged dataset: 21.2M rows, single files per instrument</a:t>
            </a:r>
            <a:r>
              <a:rPr sz="1350" b="0">
                <a:solidFill>
                  <a:srgbClr val="E2E8F0"/>
                </a:solidFill>
                <a:latin typeface="Calibri"/>
              </a:rPr>
              <a:t>✅ Dashboard + replay + in-app glossary — demo-ready</a:t>
            </a:r>
            <a:r>
              <a:rPr sz="1350" b="0">
                <a:solidFill>
                  <a:srgbClr val="E2E8F0"/>
                </a:solidFill>
                <a:latin typeface="Calibri"/>
              </a:rPr>
              <a:t>✅ Reproducible: one-command rebuild, 6/6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5212080" cy="4114800"/>
          </a:xfrm>
          <a:prstGeom prst="roundRect">
            <a:avLst/>
          </a:prstGeom>
          <a:solidFill>
            <a:srgbClr val="141024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0116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A78BFA"/>
                </a:solidFill>
                <a:latin typeface="Calibri"/>
              </a:rPr>
              <a:t>🔮 Next: Major project =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65176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E2E8F0"/>
                </a:solidFill>
                <a:latin typeface="Calibri"/>
              </a:rPr>
              <a:t>The prototype becomes the product:</a:t>
            </a:r>
            <a:r>
              <a:rPr sz="1350" b="0">
                <a:solidFill>
                  <a:srgbClr val="94A3B8"/>
                </a:solidFill>
                <a:latin typeface="Calibri"/>
              </a:rPr>
              <a:t>• attach LightGBM forecast + lead-time evaluation</a:t>
            </a:r>
            <a:r>
              <a:rPr sz="1350" b="0">
                <a:solidFill>
                  <a:srgbClr val="94A3B8"/>
                </a:solidFill>
                <a:latin typeface="Calibri"/>
              </a:rPr>
              <a:t>• exploit the 117 s hard-X precursor as a live feature</a:t>
            </a:r>
            <a:r>
              <a:rPr sz="1350" b="0">
                <a:solidFill>
                  <a:srgbClr val="94A3B8"/>
                </a:solidFill>
                <a:latin typeface="Calibri"/>
              </a:rPr>
              <a:t>• scale merged datasets as PRADAN releases more days</a:t>
            </a:r>
            <a:r>
              <a:rPr sz="800" b="0">
                <a:solidFill>
                  <a:srgbClr val="E2E8F0"/>
                </a:solidFill>
                <a:latin typeface="Calibri"/>
              </a:rPr>
              <a:t/>
            </a:r>
            <a:r>
              <a:rPr sz="1400" b="1">
                <a:solidFill>
                  <a:srgbClr val="F59E0B"/>
                </a:solidFill>
                <a:latin typeface="Calibri"/>
              </a:rPr>
              <a:t>“Nowcast today. Forecast tomorrow — on the same pipeline.”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Calibri"/>
              </a:rPr>
              <a:t>Data: ISSDC PRADAN (SoLEXS + HEL1OS Level-1) · Reference: NOAA GOES-16 · Code: github.com/Peeyush1010/Minor-Project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Aditya-L1 Flare Watch · Minor Project · Solar-Flare Nowcasting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